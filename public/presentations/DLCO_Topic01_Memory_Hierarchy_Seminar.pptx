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216BF7-E8DB-4A8E-85B1-1DF4C428C73D}">
  <a:tblStyle styleId="{6C216BF7-E8DB-4A8E-85B1-1DF4C428C73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hb7c70d340eef3c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hb7c70d340eef3c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h3132a1409b36fabe_1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h3132a1409b36fabe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3132a1409b36fabe_1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3132a1409b36fabe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3132a1409b36fabe_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h3132a1409b36fabe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3132a1409b36fabe_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h3132a1409b36fabe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3132a1409b36fabe_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h3132a1409b36fabe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3132a1409b36fabe_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h3132a1409b36fabe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3132a1409b36fabe_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h3132a1409b36fabe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3132a1409b36fabe_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h3132a1409b36fabe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h3132a1409b36fabe_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h3132a1409b36fabe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3132a1409b36fabe_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h3132a1409b36fab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3132a1409b36fabe_1_0)">
  <p:cSld name="Generated (h3132a1409b36fabe_1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9E7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476250" y="476250"/>
            <a:ext cx="81915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890" u="none" strike="noStrike">
                <a:solidFill>
                  <a:srgbClr val="D81B60"/>
                </a:solidFill>
                <a:latin typeface="Comic Sans MS"/>
                <a:ea typeface="Comic Sans MS"/>
                <a:cs typeface="Comic Sans MS"/>
                <a:sym typeface="Comic Sans MS"/>
              </a:rPr>
              <a:t>MEMORY HIERARCHY</a:t>
            </a:r>
            <a:endParaRPr b="1" i="0" sz="2890" u="none" strike="noStrike">
              <a:solidFill>
                <a:srgbClr val="D81B6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GB" sz="1530" u="none" strike="noStrike">
                <a:solidFill>
                  <a:srgbClr val="1E88E5"/>
                </a:solidFill>
                <a:latin typeface="Comic Sans MS"/>
                <a:ea typeface="Comic Sans MS"/>
                <a:cs typeface="Comic Sans MS"/>
                <a:sym typeface="Comic Sans MS"/>
              </a:rPr>
              <a:t>Organization of Memory in Computer Systems</a:t>
            </a:r>
            <a:endParaRPr b="1" i="0" sz="2890" u="none" strike="noStrike">
              <a:solidFill>
                <a:srgbClr val="D81B6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762000" y="1571625"/>
            <a:ext cx="7620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085" u="none" strike="noStrike">
                <a:solidFill>
                  <a:srgbClr val="37474F"/>
                </a:solidFill>
                <a:latin typeface="Comic Sans MS"/>
                <a:ea typeface="Comic Sans MS"/>
                <a:cs typeface="Comic Sans MS"/>
                <a:sym typeface="Comic Sans MS"/>
              </a:rPr>
              <a:t>Digital Logic and Computer Organization (DLCO) | Unit IV</a:t>
            </a:r>
            <a:endParaRPr b="1" i="1" sz="1085" u="none" strike="noStrike">
              <a:solidFill>
                <a:srgbClr val="37474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1" i="1" lang="en-GB" sz="1008" u="none" strike="noStrike">
                <a:solidFill>
                  <a:srgbClr val="455A64"/>
                </a:solidFill>
                <a:latin typeface="Comic Sans MS"/>
                <a:ea typeface="Comic Sans MS"/>
                <a:cs typeface="Comic Sans MS"/>
                <a:sym typeface="Comic Sans MS"/>
              </a:rPr>
              <a:t>JNTUK R23 Regulation | Department of CSE</a:t>
            </a:r>
            <a:endParaRPr b="1" i="1" sz="1085" u="none" strike="noStrike">
              <a:solidFill>
                <a:srgbClr val="37474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 rotWithShape="1">
          <a:blip r:embed="rId3">
            <a:alphaModFix/>
          </a:blip>
          <a:srcRect b="720" l="0" r="0" t="710"/>
          <a:stretch/>
        </p:blipFill>
        <p:spPr>
          <a:xfrm>
            <a:off x="5143500" y="2381250"/>
            <a:ext cx="3333900" cy="21909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/>
        </p:nvSpPr>
        <p:spPr>
          <a:xfrm>
            <a:off x="571500" y="2333625"/>
            <a:ext cx="4286400" cy="24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50" u="none" strike="noStrike">
                <a:solidFill>
                  <a:srgbClr val="2E7D32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Presented by (Team of 5 Members):</a:t>
            </a:r>
            <a:endParaRPr b="1" i="0" sz="1350" u="none" strike="noStrike">
              <a:solidFill>
                <a:srgbClr val="2E7D3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GB" sz="115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Member 1: Karthikeya (Intro &amp; Hierarchy Structure)</a:t>
            </a:r>
            <a:endParaRPr b="1" i="0" sz="1350" u="none" strike="noStrike">
              <a:solidFill>
                <a:srgbClr val="2E7D3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GB" sz="115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Member 2: Nikhil (Semiconductor RAM &amp; ROM)</a:t>
            </a:r>
            <a:endParaRPr b="1" i="0" sz="1350" u="none" strike="noStrike">
              <a:solidFill>
                <a:srgbClr val="2E7D3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GB" sz="115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Member 3: Teja (Cache Memory &amp; Performance)</a:t>
            </a:r>
            <a:endParaRPr b="1" i="0" sz="1350" u="none" strike="noStrike">
              <a:solidFill>
                <a:srgbClr val="2E7D3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GB" sz="115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Member 4: Srinivas (Virtual Memory &amp; Management)</a:t>
            </a:r>
            <a:endParaRPr b="1" i="0" sz="1350" u="none" strike="noStrike">
              <a:solidFill>
                <a:srgbClr val="2E7D3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GB" sz="115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• Member 5: Manohar (Secondary Storage &amp; Summary)</a:t>
            </a:r>
            <a:endParaRPr b="1" i="0" sz="1350" u="none" strike="noStrike">
              <a:solidFill>
                <a:srgbClr val="2E7D3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9E7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76250" y="190500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60" u="none" strike="noStrike">
                <a:solidFill>
                  <a:srgbClr val="D81B6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Introduction to Memory Organization</a:t>
            </a:r>
            <a:endParaRPr b="1" i="0" sz="1860" u="none" strike="noStrike">
              <a:solidFill>
                <a:srgbClr val="D81B6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476250" y="647700"/>
            <a:ext cx="8191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978">
                <a:solidFill>
                  <a:srgbClr val="1E88E5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Presented by: Member 1 (Karthikeya) | Basic Concepts &amp; Trade-offs</a:t>
            </a:r>
            <a:endParaRPr i="1" sz="978">
              <a:solidFill>
                <a:srgbClr val="1E88E5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476250" y="1095375"/>
            <a:ext cx="3952800" cy="366720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43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 txBox="1"/>
          <p:nvPr/>
        </p:nvSpPr>
        <p:spPr>
          <a:xfrm>
            <a:off x="609600" y="1209675"/>
            <a:ext cx="3686100" cy="3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50" u="none" strike="noStrike">
                <a:solidFill>
                  <a:srgbClr val="2E7D32"/>
                </a:solidFill>
                <a:latin typeface="Comic Sans MS"/>
                <a:ea typeface="Comic Sans MS"/>
                <a:cs typeface="Comic Sans MS"/>
                <a:sym typeface="Comic Sans MS"/>
              </a:rPr>
              <a:t>Role of Memory in Systems</a:t>
            </a:r>
            <a:endParaRPr b="1" i="0" sz="1450" u="none" strike="noStrike">
              <a:solidFill>
                <a:srgbClr val="2E7D3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omic Sans MS"/>
              <a:buChar char="●"/>
            </a:pPr>
            <a:r>
              <a:rPr b="0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Memory stores programs, instructions, operational data, and computation results.</a:t>
            </a:r>
            <a:endParaRPr b="0" i="0" sz="1450" u="none" strike="noStrike">
              <a:solidFill>
                <a:srgbClr val="2E7D3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omic Sans MS"/>
              <a:buChar char="●"/>
            </a:pPr>
            <a:r>
              <a:rPr b="0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Crucial subsystem directly determining processor utilization and throughput.</a:t>
            </a:r>
            <a:endParaRPr b="0" i="0" sz="1450" u="none" strike="noStrike">
              <a:solidFill>
                <a:srgbClr val="2E7D3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omic Sans MS"/>
              <a:buChar char="●"/>
            </a:pPr>
            <a:r>
              <a:rPr b="0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CPU executes instructions at nanosecond clock speeds requiring rapid data access.</a:t>
            </a:r>
            <a:endParaRPr b="0" i="0" sz="1450" u="none" strike="noStrike">
              <a:solidFill>
                <a:srgbClr val="2E7D3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263238"/>
              </a:buClr>
              <a:buSzPts val="1200"/>
              <a:buFont typeface="Comic Sans MS"/>
              <a:buChar char="●"/>
            </a:pPr>
            <a:r>
              <a:rPr b="0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A single memory technology cannot satisfy both maximum speed and maximum capacity.</a:t>
            </a:r>
            <a:endParaRPr b="1" i="0" sz="1450" u="none" strike="noStrike">
              <a:solidFill>
                <a:srgbClr val="2E7D3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4714875" y="1095375"/>
            <a:ext cx="3952800" cy="366720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43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4848225" y="1209675"/>
            <a:ext cx="3686100" cy="3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50" u="none" strike="noStrike">
                <a:solidFill>
                  <a:srgbClr val="1565C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Core Trade-offs &amp; Hierarchy</a:t>
            </a:r>
            <a:endParaRPr b="1" i="0" sz="1450" u="none" strike="noStrike">
              <a:solidFill>
                <a:srgbClr val="1565C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omic Sans MS"/>
              <a:buChar char="●"/>
            </a:pPr>
            <a:r>
              <a:rPr b="1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Speed vs. Cost:</a:t>
            </a:r>
            <a:r>
              <a:rPr b="0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Faster memory technologies are substantially more expensive per bit.</a:t>
            </a:r>
            <a:endParaRPr b="0" i="0" sz="1450" u="none" strike="noStrike">
              <a:solidFill>
                <a:srgbClr val="1565C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omic Sans MS"/>
              <a:buChar char="●"/>
            </a:pPr>
            <a:r>
              <a:rPr b="1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Capacity vs. Speed:</a:t>
            </a:r>
            <a:r>
              <a:rPr b="0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Larger capacity memories exhibit longer physical access latencies.</a:t>
            </a:r>
            <a:endParaRPr b="0" i="0" sz="1450" u="none" strike="noStrike">
              <a:solidFill>
                <a:srgbClr val="1565C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omic Sans MS"/>
              <a:buChar char="●"/>
            </a:pPr>
            <a:r>
              <a:rPr b="1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Hierarchy Strategy:</a:t>
            </a:r>
            <a:r>
              <a:rPr b="0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Combines multiple memory technologies in a tiered structure.</a:t>
            </a:r>
            <a:endParaRPr b="0" i="0" sz="1450" u="none" strike="noStrike">
              <a:solidFill>
                <a:srgbClr val="1565C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263238"/>
              </a:buClr>
              <a:buSzPts val="1200"/>
              <a:buFont typeface="Comic Sans MS"/>
              <a:buChar char="●"/>
            </a:pPr>
            <a:r>
              <a:rPr b="1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Goal:</a:t>
            </a:r>
            <a:r>
              <a:rPr b="0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Delivers nearly the speed of the fastest memory with the capacity and cost of the cheapest.</a:t>
            </a:r>
            <a:endParaRPr b="1" i="0" sz="1450" u="none" strike="noStrike">
              <a:solidFill>
                <a:srgbClr val="1565C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9E7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476250" y="190500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60">
                <a:solidFill>
                  <a:srgbClr val="D81B6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Structure of Memory Hierarchy</a:t>
            </a:r>
            <a:endParaRPr b="1" sz="1860">
              <a:solidFill>
                <a:srgbClr val="D81B6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476250" y="647700"/>
            <a:ext cx="8191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978">
                <a:solidFill>
                  <a:srgbClr val="1E88E5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Presented by: Member 1 (Karthikeya) | The Memory Pyramid</a:t>
            </a:r>
            <a:endParaRPr i="1" sz="978">
              <a:solidFill>
                <a:srgbClr val="1E88E5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64454"/>
            <a:ext cx="4381500" cy="28839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/>
          <p:nvPr/>
        </p:nvSpPr>
        <p:spPr>
          <a:xfrm>
            <a:off x="4905375" y="1095375"/>
            <a:ext cx="3810000" cy="366720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43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5038725" y="1209675"/>
            <a:ext cx="3543300" cy="3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33" u="none" strike="noStrike">
                <a:solidFill>
                  <a:srgbClr val="C2185B"/>
                </a:solidFill>
                <a:latin typeface="Comic Sans MS"/>
                <a:ea typeface="Comic Sans MS"/>
                <a:cs typeface="Comic Sans MS"/>
                <a:sym typeface="Comic Sans MS"/>
              </a:rPr>
              <a:t>Key Hierarchy Trends</a:t>
            </a:r>
            <a:endParaRPr b="1" i="0" sz="1233" u="none" strike="noStrike">
              <a:solidFill>
                <a:srgbClr val="C2185B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337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63238"/>
              </a:buClr>
              <a:buSzPts val="1020"/>
              <a:buFont typeface="Comic Sans MS"/>
              <a:buChar char="●"/>
            </a:pPr>
            <a:r>
              <a:rPr b="1" i="0" lang="en-GB" sz="102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 (Registers):</a:t>
            </a:r>
            <a:r>
              <a:rPr b="0" i="0" lang="en-GB" sz="102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Inside CPU, fastest access (&lt; 1 ns), smallest capacity, highest cost/bit.</a:t>
            </a:r>
            <a:endParaRPr b="0" i="0" sz="1233" u="none" strike="noStrike">
              <a:solidFill>
                <a:srgbClr val="C2185B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337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020"/>
              <a:buFont typeface="Comic Sans MS"/>
              <a:buChar char="●"/>
            </a:pPr>
            <a:r>
              <a:rPr b="1" i="0" lang="en-GB" sz="102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Cache Memory:</a:t>
            </a:r>
            <a:r>
              <a:rPr b="0" i="0" lang="en-GB" sz="102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Fast SRAM (L1, L2, L3) bridging processor and main memory speeds.</a:t>
            </a:r>
            <a:endParaRPr b="0" i="0" sz="1233" u="none" strike="noStrike">
              <a:solidFill>
                <a:srgbClr val="C2185B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337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020"/>
              <a:buFont typeface="Comic Sans MS"/>
              <a:buChar char="●"/>
            </a:pPr>
            <a:r>
              <a:rPr b="1" i="0" lang="en-GB" sz="102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Main Memory (DRAM):</a:t>
            </a:r>
            <a:r>
              <a:rPr b="0" i="0" lang="en-GB" sz="102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System RAM holding active applications and working datasets.</a:t>
            </a:r>
            <a:endParaRPr b="0" i="0" sz="1233" u="none" strike="noStrike">
              <a:solidFill>
                <a:srgbClr val="C2185B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337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020"/>
              <a:buFont typeface="Comic Sans MS"/>
              <a:buChar char="●"/>
            </a:pPr>
            <a:r>
              <a:rPr b="1" i="0" lang="en-GB" sz="102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Secondary Storage:</a:t>
            </a:r>
            <a:r>
              <a:rPr b="0" i="0" lang="en-GB" sz="102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Magnetic disk &amp; flash SSD; large capacity, non-volatile, lowest cost.</a:t>
            </a:r>
            <a:endParaRPr b="0" i="0" sz="1233" u="none" strike="noStrike">
              <a:solidFill>
                <a:srgbClr val="C2185B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337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263238"/>
              </a:buClr>
              <a:buSzPts val="1020"/>
              <a:buFont typeface="Comic Sans MS"/>
              <a:buChar char="●"/>
            </a:pPr>
            <a:r>
              <a:rPr b="1" i="0" lang="en-GB" sz="102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Downward trend:</a:t>
            </a:r>
            <a:r>
              <a:rPr b="0" i="0" lang="en-GB" sz="102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Increasing access time, increasing capacity, decreasing cost per bit.</a:t>
            </a:r>
            <a:endParaRPr b="1" i="0" sz="1233" u="none" strike="noStrike">
              <a:solidFill>
                <a:srgbClr val="C2185B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9E7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/>
        </p:nvSpPr>
        <p:spPr>
          <a:xfrm>
            <a:off x="476250" y="190500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60">
                <a:solidFill>
                  <a:srgbClr val="D81B60"/>
                </a:solidFill>
                <a:latin typeface="Comic Sans MS"/>
                <a:ea typeface="Comic Sans MS"/>
                <a:cs typeface="Comic Sans MS"/>
                <a:sym typeface="Comic Sans MS"/>
              </a:rPr>
              <a:t>Semiconductor RAM Memories</a:t>
            </a:r>
            <a:endParaRPr b="1" sz="1860">
              <a:solidFill>
                <a:srgbClr val="D81B6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476250" y="647700"/>
            <a:ext cx="8191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978">
                <a:solidFill>
                  <a:srgbClr val="1E88E5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Presented by: Member 2 (Nikhil) | Random Access Memory (SRAM &amp; DRAM)</a:t>
            </a:r>
            <a:endParaRPr i="1" sz="978">
              <a:solidFill>
                <a:srgbClr val="1E88E5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476250" y="1095375"/>
            <a:ext cx="3952800" cy="366720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43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 txBox="1"/>
          <p:nvPr/>
        </p:nvSpPr>
        <p:spPr>
          <a:xfrm>
            <a:off x="609600" y="1209675"/>
            <a:ext cx="3686100" cy="3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41" u="none" strike="noStrike">
                <a:solidFill>
                  <a:srgbClr val="1E88E5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Static RAM (SRAM)</a:t>
            </a:r>
            <a:endParaRPr b="1" i="0" sz="1341" u="none" strike="noStrike">
              <a:solidFill>
                <a:srgbClr val="1E88E5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1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Storage Mechanism:</a:t>
            </a:r>
            <a:r>
              <a:rPr b="0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Built using bistable flip-flop logic circuits (4 to 6 transistors per cell).</a:t>
            </a:r>
            <a:endParaRPr b="0" i="0" sz="1341" u="none" strike="noStrike">
              <a:solidFill>
                <a:srgbClr val="1E88E5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1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Speed:</a:t>
            </a:r>
            <a:r>
              <a:rPr b="0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Very fast access times (sub-nanosecond to few nanoseconds).</a:t>
            </a:r>
            <a:endParaRPr b="0" i="0" sz="1341" u="none" strike="noStrike">
              <a:solidFill>
                <a:srgbClr val="1E88E5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1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Refreshing:</a:t>
            </a:r>
            <a:r>
              <a:rPr b="0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Does NOT require dynamic periodic refreshing while power is maintained.</a:t>
            </a:r>
            <a:endParaRPr b="0" i="0" sz="1341" u="none" strike="noStrike">
              <a:solidFill>
                <a:srgbClr val="1E88E5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1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Density &amp; Cost:</a:t>
            </a:r>
            <a:r>
              <a:rPr b="0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Lower packing density, complex circuitry, and higher cost per bit.</a:t>
            </a:r>
            <a:endParaRPr b="0" i="0" sz="1341" u="none" strike="noStrike">
              <a:solidFill>
                <a:srgbClr val="1E88E5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1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Primary Application:</a:t>
            </a:r>
            <a:r>
              <a:rPr b="0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Used exclusively for CPU internal and external Cache memory.</a:t>
            </a:r>
            <a:endParaRPr b="1" i="0" sz="1341" u="none" strike="noStrike">
              <a:solidFill>
                <a:srgbClr val="1E88E5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4714875" y="1095375"/>
            <a:ext cx="3952800" cy="366720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43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4848225" y="1209675"/>
            <a:ext cx="3686100" cy="3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33" u="none" strike="noStrike">
                <a:solidFill>
                  <a:srgbClr val="2E7D32"/>
                </a:solidFill>
                <a:latin typeface="Comic Sans MS"/>
                <a:ea typeface="Comic Sans MS"/>
                <a:cs typeface="Comic Sans MS"/>
                <a:sym typeface="Comic Sans MS"/>
              </a:rPr>
              <a:t>Dynamic RAM (DRAM)</a:t>
            </a:r>
            <a:endParaRPr b="1" i="0" sz="1233" u="none" strike="noStrike">
              <a:solidFill>
                <a:srgbClr val="2E7D3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337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63238"/>
              </a:buClr>
              <a:buSzPts val="1020"/>
              <a:buFont typeface="Comic Sans MS"/>
              <a:buChar char="●"/>
            </a:pPr>
            <a:r>
              <a:rPr b="1" i="0" lang="en-GB" sz="102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Storage Mechanism:</a:t>
            </a:r>
            <a:r>
              <a:rPr b="0" i="0" lang="en-GB" sz="102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Stores bits as electrical charges in tiny capacitor-transistor pairs.</a:t>
            </a:r>
            <a:endParaRPr b="0" i="0" sz="1233" u="none" strike="noStrike">
              <a:solidFill>
                <a:srgbClr val="2E7D3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337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020"/>
              <a:buFont typeface="Comic Sans MS"/>
              <a:buChar char="●"/>
            </a:pPr>
            <a:r>
              <a:rPr b="1" i="0" lang="en-GB" sz="102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Periodic Refresh:</a:t>
            </a:r>
            <a:r>
              <a:rPr b="0" i="0" lang="en-GB" sz="102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Charge leaks away continuously; requires periodic refreshing cycles.</a:t>
            </a:r>
            <a:endParaRPr b="0" i="0" sz="1233" u="none" strike="noStrike">
              <a:solidFill>
                <a:srgbClr val="2E7D3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337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020"/>
              <a:buFont typeface="Comic Sans MS"/>
              <a:buChar char="●"/>
            </a:pPr>
            <a:r>
              <a:rPr b="1" i="0" lang="en-GB" sz="102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Speed:</a:t>
            </a:r>
            <a:r>
              <a:rPr b="0" i="0" lang="en-GB" sz="102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Slower access latency compared to SRAM due to cycle precharge &amp; refresh overhead.</a:t>
            </a:r>
            <a:endParaRPr b="0" i="0" sz="1233" u="none" strike="noStrike">
              <a:solidFill>
                <a:srgbClr val="2E7D3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337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020"/>
              <a:buFont typeface="Comic Sans MS"/>
              <a:buChar char="●"/>
            </a:pPr>
            <a:r>
              <a:rPr b="1" i="0" lang="en-GB" sz="102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Density &amp; Cost:</a:t>
            </a:r>
            <a:r>
              <a:rPr b="0" i="0" lang="en-GB" sz="102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Extremely high bit density, simple cell layout, and very low cost per bit.</a:t>
            </a:r>
            <a:endParaRPr b="0" i="0" sz="1233" u="none" strike="noStrike">
              <a:solidFill>
                <a:srgbClr val="2E7D3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337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263238"/>
              </a:buClr>
              <a:buSzPts val="1020"/>
              <a:buFont typeface="Comic Sans MS"/>
              <a:buChar char="●"/>
            </a:pPr>
            <a:r>
              <a:rPr b="1" i="0" lang="en-GB" sz="102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Primary Application:</a:t>
            </a:r>
            <a:r>
              <a:rPr b="0" i="0" lang="en-GB" sz="102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Standard choice for computer Main Memory (System RAM).</a:t>
            </a:r>
            <a:endParaRPr b="1" i="0" sz="1233" u="none" strike="noStrike">
              <a:solidFill>
                <a:srgbClr val="2E7D3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9E7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/>
        </p:nvSpPr>
        <p:spPr>
          <a:xfrm>
            <a:off x="476250" y="190500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60">
                <a:solidFill>
                  <a:srgbClr val="D81B6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Read-Only Memory (ROM)</a:t>
            </a:r>
            <a:endParaRPr b="1" sz="1860">
              <a:solidFill>
                <a:srgbClr val="D81B6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476250" y="647700"/>
            <a:ext cx="8191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978">
                <a:solidFill>
                  <a:srgbClr val="1E88E5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Presented by: Member 2 (Nikhil) | Non-Volatile Semiconductor Storage</a:t>
            </a:r>
            <a:endParaRPr i="1" sz="978">
              <a:solidFill>
                <a:srgbClr val="1E88E5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4" name="Google Shape;94;p18"/>
          <p:cNvSpPr/>
          <p:nvPr/>
        </p:nvSpPr>
        <p:spPr>
          <a:xfrm>
            <a:off x="476250" y="1095375"/>
            <a:ext cx="3952800" cy="366720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43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609600" y="1209675"/>
            <a:ext cx="3686100" cy="3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50" u="none" strike="noStrike">
                <a:solidFill>
                  <a:srgbClr val="E651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ROM Characteristics &amp; Role</a:t>
            </a:r>
            <a:endParaRPr b="1" i="0" sz="1450" u="none" strike="noStrike">
              <a:solidFill>
                <a:srgbClr val="E651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omic Sans MS"/>
              <a:buChar char="●"/>
            </a:pPr>
            <a:r>
              <a:rPr b="1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Non-Volatile:</a:t>
            </a:r>
            <a:r>
              <a:rPr b="0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Retains program code permanently even when electrical power is disconnected.</a:t>
            </a:r>
            <a:endParaRPr b="0" i="0" sz="1450" u="none" strike="noStrike">
              <a:solidFill>
                <a:srgbClr val="E651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omic Sans MS"/>
              <a:buChar char="●"/>
            </a:pPr>
            <a:r>
              <a:rPr b="1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 Bootstrap:</a:t>
            </a:r>
            <a:r>
              <a:rPr b="0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Holds initialization programs (BIOS / UEFI) and system startup routines.</a:t>
            </a:r>
            <a:endParaRPr b="0" i="0" sz="1450" u="none" strike="noStrike">
              <a:solidFill>
                <a:srgbClr val="E651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omic Sans MS"/>
              <a:buChar char="●"/>
            </a:pPr>
            <a:r>
              <a:rPr b="1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Embedded Firmware:</a:t>
            </a:r>
            <a:r>
              <a:rPr b="0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Stores dedicated control routines in microcontrollers and appliances.</a:t>
            </a:r>
            <a:endParaRPr b="0" i="0" sz="1450" u="none" strike="noStrike">
              <a:solidFill>
                <a:srgbClr val="E651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263238"/>
              </a:buClr>
              <a:buSzPts val="1200"/>
              <a:buFont typeface="Comic Sans MS"/>
              <a:buChar char="●"/>
            </a:pPr>
            <a:r>
              <a:rPr b="1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Read Operations:</a:t>
            </a:r>
            <a:r>
              <a:rPr b="0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Standard CPU operation is read-only during normal computing execution.</a:t>
            </a:r>
            <a:endParaRPr b="1" i="0" sz="1450" u="none" strike="noStrike">
              <a:solidFill>
                <a:srgbClr val="E651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4714875" y="1095375"/>
            <a:ext cx="3952800" cy="366720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43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8"/>
          <p:cNvSpPr txBox="1"/>
          <p:nvPr/>
        </p:nvSpPr>
        <p:spPr>
          <a:xfrm>
            <a:off x="4848225" y="1209675"/>
            <a:ext cx="3686100" cy="3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41" u="none" strike="noStrike">
                <a:solidFill>
                  <a:srgbClr val="6A1B9A"/>
                </a:solidFill>
                <a:latin typeface="Comic Sans MS"/>
                <a:ea typeface="Comic Sans MS"/>
                <a:cs typeface="Comic Sans MS"/>
                <a:sym typeface="Comic Sans MS"/>
              </a:rPr>
              <a:t>Evolution &amp; Types of ROM</a:t>
            </a:r>
            <a:endParaRPr b="1" i="0" sz="1341" u="none" strike="noStrike">
              <a:solidFill>
                <a:srgbClr val="6A1B9A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1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Mask ROM:</a:t>
            </a:r>
            <a:r>
              <a:rPr b="0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Hardwired during fabrication; cannot be modified or updated.</a:t>
            </a:r>
            <a:endParaRPr b="0" i="0" sz="1341" u="none" strike="noStrike">
              <a:solidFill>
                <a:srgbClr val="6A1B9A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1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PROM (Programmable ROM):</a:t>
            </a:r>
            <a:r>
              <a:rPr b="0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Shipped blank and electrically programmed once using fuse links.</a:t>
            </a:r>
            <a:endParaRPr b="0" i="0" sz="1341" u="none" strike="noStrike">
              <a:solidFill>
                <a:srgbClr val="6A1B9A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1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EPROM:</a:t>
            </a:r>
            <a:r>
              <a:rPr b="0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Erasable Programmable ROM; erased by exposing chip die to ultraviolet (UV) light.</a:t>
            </a:r>
            <a:endParaRPr b="0" i="0" sz="1341" u="none" strike="noStrike">
              <a:solidFill>
                <a:srgbClr val="6A1B9A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1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EEPROM:</a:t>
            </a:r>
            <a:r>
              <a:rPr b="0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Electrically Erasable PROM; erased in-circuit via electrical signals byte-by-byte.</a:t>
            </a:r>
            <a:endParaRPr b="0" i="0" sz="1341" u="none" strike="noStrike">
              <a:solidFill>
                <a:srgbClr val="6A1B9A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1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Flash Memory:</a:t>
            </a:r>
            <a:r>
              <a:rPr b="0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High-density EEPROM variation erasable in large sector blocks.</a:t>
            </a:r>
            <a:endParaRPr b="1" i="0" sz="1341" u="none" strike="noStrike">
              <a:solidFill>
                <a:srgbClr val="6A1B9A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9E7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/>
        </p:nvSpPr>
        <p:spPr>
          <a:xfrm>
            <a:off x="476250" y="190500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60">
                <a:solidFill>
                  <a:srgbClr val="D81B60"/>
                </a:solidFill>
                <a:latin typeface="Comic Sans MS"/>
                <a:ea typeface="Comic Sans MS"/>
                <a:cs typeface="Comic Sans MS"/>
                <a:sym typeface="Comic Sans MS"/>
              </a:rPr>
              <a:t>Cache Memory Architecture</a:t>
            </a:r>
            <a:endParaRPr b="1" sz="1860">
              <a:solidFill>
                <a:srgbClr val="D81B6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476250" y="647700"/>
            <a:ext cx="8191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978">
                <a:solidFill>
                  <a:srgbClr val="1E88E5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Presented by: Member 3 (Teja) | High-Speed Buffer &amp; Multi-Level Cache</a:t>
            </a:r>
            <a:endParaRPr i="1" sz="978">
              <a:solidFill>
                <a:srgbClr val="1E88E5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4" name="Google Shape;104;p19"/>
          <p:cNvSpPr/>
          <p:nvPr/>
        </p:nvSpPr>
        <p:spPr>
          <a:xfrm>
            <a:off x="476250" y="1095375"/>
            <a:ext cx="3952800" cy="366720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43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 txBox="1"/>
          <p:nvPr/>
        </p:nvSpPr>
        <p:spPr>
          <a:xfrm>
            <a:off x="609600" y="1209675"/>
            <a:ext cx="3686100" cy="3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41" u="none" strike="noStrike">
                <a:solidFill>
                  <a:srgbClr val="00838F"/>
                </a:solidFill>
                <a:latin typeface="Comic Sans MS"/>
                <a:ea typeface="Comic Sans MS"/>
                <a:cs typeface="Comic Sans MS"/>
                <a:sym typeface="Comic Sans MS"/>
              </a:rPr>
              <a:t>Principles of Cache Operation</a:t>
            </a:r>
            <a:endParaRPr b="1" i="0" sz="1341" u="none" strike="noStrike">
              <a:solidFill>
                <a:srgbClr val="00838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1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Buffer Role:</a:t>
            </a:r>
            <a:r>
              <a:rPr b="0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Small, ultra-fast memory placed directly between CPU execution units and Main RAM.</a:t>
            </a:r>
            <a:endParaRPr b="0" i="0" sz="1341" u="none" strike="noStrike">
              <a:solidFill>
                <a:srgbClr val="00838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1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Locality of Reference:</a:t>
            </a:r>
            <a:endParaRPr b="0" i="0" sz="1341" u="none" strike="noStrike">
              <a:solidFill>
                <a:srgbClr val="00838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1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 • Temporal Locality:</a:t>
            </a:r>
            <a:r>
              <a:rPr b="0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Recently accessed items are likely to be accessed again soon.</a:t>
            </a:r>
            <a:endParaRPr b="0" i="0" sz="1341" u="none" strike="noStrike">
              <a:solidFill>
                <a:srgbClr val="00838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1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 • Spatial Locality:</a:t>
            </a:r>
            <a:r>
              <a:rPr b="0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Items stored near recently accessed items are likely to be accessed soon.</a:t>
            </a:r>
            <a:endParaRPr b="0" i="0" sz="1341" u="none" strike="noStrike">
              <a:solidFill>
                <a:srgbClr val="00838F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1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Transparency:</a:t>
            </a:r>
            <a:r>
              <a:rPr b="0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Operates automatically in hardware without requiring manual programmer management.</a:t>
            </a:r>
            <a:endParaRPr b="1" i="0" sz="1341" u="none" strike="noStrike">
              <a:solidFill>
                <a:srgbClr val="00838F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6" name="Google Shape;106;p19"/>
          <p:cNvSpPr/>
          <p:nvPr/>
        </p:nvSpPr>
        <p:spPr>
          <a:xfrm>
            <a:off x="4714875" y="1095375"/>
            <a:ext cx="3952800" cy="366720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43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4848225" y="1209675"/>
            <a:ext cx="3686100" cy="3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50" u="none" strike="noStrike">
                <a:solidFill>
                  <a:srgbClr val="1565C0"/>
                </a:solidFill>
                <a:latin typeface="Comic Sans MS"/>
                <a:ea typeface="Comic Sans MS"/>
                <a:cs typeface="Comic Sans MS"/>
                <a:sym typeface="Comic Sans MS"/>
              </a:rPr>
              <a:t>Multi-Level Cache Organization</a:t>
            </a:r>
            <a:endParaRPr b="1" i="0" sz="1450" u="none" strike="noStrike">
              <a:solidFill>
                <a:srgbClr val="1565C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omic Sans MS"/>
              <a:buChar char="●"/>
            </a:pPr>
            <a:r>
              <a:rPr b="1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L1 Cache (Primary):</a:t>
            </a:r>
            <a:r>
              <a:rPr b="0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Integrated inside CPU core; smallest (32–64 KB), fastest (sub-nanosecond).</a:t>
            </a:r>
            <a:endParaRPr b="0" i="0" sz="1450" u="none" strike="noStrike">
              <a:solidFill>
                <a:srgbClr val="1565C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omic Sans MS"/>
              <a:buChar char="●"/>
            </a:pPr>
            <a:r>
              <a:rPr b="1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L2 Cache (Secondary):</a:t>
            </a:r>
            <a:r>
              <a:rPr b="0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Dedicated per-core buffer; larger (256 KB–1 MB), slightly slower access.</a:t>
            </a:r>
            <a:endParaRPr b="0" i="0" sz="1450" u="none" strike="noStrike">
              <a:solidFill>
                <a:srgbClr val="1565C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omic Sans MS"/>
              <a:buChar char="●"/>
            </a:pPr>
            <a:r>
              <a:rPr b="1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L3 Cache (System-Level):</a:t>
            </a:r>
            <a:r>
              <a:rPr b="0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Shared across all processor cores; high capacity (8–64 MB).</a:t>
            </a:r>
            <a:endParaRPr b="0" i="0" sz="1450" u="none" strike="noStrike">
              <a:solidFill>
                <a:srgbClr val="1565C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263238"/>
              </a:buClr>
              <a:buSzPts val="1200"/>
              <a:buFont typeface="Comic Sans MS"/>
              <a:buChar char="●"/>
            </a:pPr>
            <a:r>
              <a:rPr b="1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Access Flow:</a:t>
            </a:r>
            <a:r>
              <a:rPr b="0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CPU first checks L1 -&gt; then L2 -&gt; then L3 -&gt; falls back to DRAM only on miss.</a:t>
            </a:r>
            <a:endParaRPr b="1" i="0" sz="1450" u="none" strike="noStrike">
              <a:solidFill>
                <a:srgbClr val="1565C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9E7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/>
        </p:nvSpPr>
        <p:spPr>
          <a:xfrm>
            <a:off x="476250" y="190500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60">
                <a:solidFill>
                  <a:srgbClr val="D81B60"/>
                </a:solidFill>
                <a:latin typeface="Comic Sans MS"/>
                <a:ea typeface="Comic Sans MS"/>
                <a:cs typeface="Comic Sans MS"/>
                <a:sym typeface="Comic Sans MS"/>
              </a:rPr>
              <a:t>Cache Performance Considerations</a:t>
            </a:r>
            <a:endParaRPr b="1" sz="1860">
              <a:solidFill>
                <a:srgbClr val="D81B6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476250" y="647700"/>
            <a:ext cx="8191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978">
                <a:solidFill>
                  <a:srgbClr val="1E88E5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Presented by: Member 3 (Teja) | Metrics &amp; Access Time Analysis</a:t>
            </a:r>
            <a:endParaRPr i="1" sz="978">
              <a:solidFill>
                <a:srgbClr val="1E88E5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4" name="Google Shape;114;p20"/>
          <p:cNvSpPr/>
          <p:nvPr/>
        </p:nvSpPr>
        <p:spPr>
          <a:xfrm>
            <a:off x="476250" y="1095375"/>
            <a:ext cx="4286400" cy="366720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43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0"/>
          <p:cNvSpPr txBox="1"/>
          <p:nvPr/>
        </p:nvSpPr>
        <p:spPr>
          <a:xfrm>
            <a:off x="609600" y="1209675"/>
            <a:ext cx="4019700" cy="3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41" u="none" strike="noStrike">
                <a:solidFill>
                  <a:srgbClr val="D81B60"/>
                </a:solidFill>
                <a:latin typeface="Comic Sans MS"/>
                <a:ea typeface="Comic Sans MS"/>
                <a:cs typeface="Comic Sans MS"/>
                <a:sym typeface="Comic Sans MS"/>
              </a:rPr>
              <a:t>Key Performance Metrics</a:t>
            </a:r>
            <a:endParaRPr b="1" i="0" sz="1341" u="none" strike="noStrike">
              <a:solidFill>
                <a:srgbClr val="D81B6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1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Cache Hit:</a:t>
            </a:r>
            <a:r>
              <a:rPr b="0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Requested memory word is found directly within cache buffer.</a:t>
            </a:r>
            <a:endParaRPr b="0" i="0" sz="1341" u="none" strike="noStrike">
              <a:solidFill>
                <a:srgbClr val="D81B6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1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Cache Miss:</a:t>
            </a:r>
            <a:r>
              <a:rPr b="0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Requested word is not present, requiring retrieval from main memory.</a:t>
            </a:r>
            <a:endParaRPr b="0" i="0" sz="1341" u="none" strike="noStrike">
              <a:solidFill>
                <a:srgbClr val="D81B6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1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Hit Ratio (h):</a:t>
            </a:r>
            <a:r>
              <a:rPr b="0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Fraction of total memory references satisfied by the cache:</a:t>
            </a:r>
            <a:endParaRPr b="0" i="0" sz="1341" u="none" strike="noStrike">
              <a:solidFill>
                <a:srgbClr val="D81B6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0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 • Hit Ratio = (Cache Hits) / (Total Memory Accesses)</a:t>
            </a:r>
            <a:endParaRPr b="0" i="0" sz="1341" u="none" strike="noStrike">
              <a:solidFill>
                <a:srgbClr val="D81B6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1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Miss Ratio:</a:t>
            </a:r>
            <a:r>
              <a:rPr b="0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Complement of hit ratio, equal to (1 - Hit Ratio).</a:t>
            </a:r>
            <a:endParaRPr b="0" i="0" sz="1341" u="none" strike="noStrike">
              <a:solidFill>
                <a:srgbClr val="D81B6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1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Miss Penalty:</a:t>
            </a:r>
            <a:r>
              <a:rPr b="0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Extra latency required to fetch the required block from DRAM into cache.</a:t>
            </a:r>
            <a:endParaRPr b="1" i="0" sz="1341" u="none" strike="noStrike">
              <a:solidFill>
                <a:srgbClr val="D81B6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6" name="Google Shape;116;p20"/>
          <p:cNvSpPr/>
          <p:nvPr/>
        </p:nvSpPr>
        <p:spPr>
          <a:xfrm>
            <a:off x="5000625" y="1095375"/>
            <a:ext cx="3667200" cy="1619100"/>
          </a:xfrm>
          <a:prstGeom prst="roundRect">
            <a:avLst>
              <a:gd fmla="val 5882" name="adj"/>
            </a:avLst>
          </a:prstGeom>
          <a:solidFill>
            <a:srgbClr val="E8F5E9"/>
          </a:solidFill>
          <a:ln cap="flat" cmpd="sng" w="143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0"/>
          <p:cNvSpPr txBox="1"/>
          <p:nvPr/>
        </p:nvSpPr>
        <p:spPr>
          <a:xfrm>
            <a:off x="5143500" y="1190625"/>
            <a:ext cx="33813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50" u="none" strike="noStrike">
                <a:solidFill>
                  <a:srgbClr val="2E7D32"/>
                </a:solidFill>
                <a:latin typeface="Comic Sans MS"/>
                <a:ea typeface="Comic Sans MS"/>
                <a:cs typeface="Comic Sans MS"/>
                <a:sym typeface="Comic Sans MS"/>
              </a:rPr>
              <a:t>Typical Performance Example</a:t>
            </a:r>
            <a:endParaRPr b="1" i="0" sz="1350" u="none" strike="noStrike">
              <a:solidFill>
                <a:srgbClr val="2E7D3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GB" sz="3200" u="none" strike="noStrike">
                <a:solidFill>
                  <a:srgbClr val="1B5E20"/>
                </a:solidFill>
                <a:latin typeface="Comic Sans MS"/>
                <a:ea typeface="Comic Sans MS"/>
                <a:cs typeface="Comic Sans MS"/>
                <a:sym typeface="Comic Sans MS"/>
              </a:rPr>
              <a:t>90% - 95%</a:t>
            </a:r>
            <a:endParaRPr b="1" i="0" sz="1350" u="none" strike="noStrike">
              <a:solidFill>
                <a:srgbClr val="2E7D3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b="1" i="0" lang="en-GB" sz="1100" u="none" strike="noStrike">
                <a:solidFill>
                  <a:srgbClr val="37474F"/>
                </a:solidFill>
                <a:latin typeface="Comic Sans MS"/>
                <a:ea typeface="Comic Sans MS"/>
                <a:cs typeface="Comic Sans MS"/>
                <a:sym typeface="Comic Sans MS"/>
              </a:rPr>
              <a:t>Typical Hit Ratio: </a:t>
            </a:r>
            <a:r>
              <a:rPr b="0" i="0" lang="en-GB" sz="1100" u="none" strike="noStrike">
                <a:solidFill>
                  <a:srgbClr val="37474F"/>
                </a:solidFill>
                <a:latin typeface="Comic Sans MS"/>
                <a:ea typeface="Comic Sans MS"/>
                <a:cs typeface="Comic Sans MS"/>
                <a:sym typeface="Comic Sans MS"/>
              </a:rPr>
              <a:t>90 hits out of 100 accesses drastically lowers effective memory latency.</a:t>
            </a:r>
            <a:endParaRPr b="1" i="0" sz="1350" u="none" strike="noStrike">
              <a:solidFill>
                <a:srgbClr val="2E7D3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8" name="Google Shape;118;p20"/>
          <p:cNvSpPr/>
          <p:nvPr/>
        </p:nvSpPr>
        <p:spPr>
          <a:xfrm>
            <a:off x="5000625" y="2857500"/>
            <a:ext cx="3667200" cy="1905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43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0"/>
          <p:cNvSpPr txBox="1"/>
          <p:nvPr/>
        </p:nvSpPr>
        <p:spPr>
          <a:xfrm>
            <a:off x="5133975" y="2971800"/>
            <a:ext cx="34005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124" u="none" strike="noStrike">
                <a:solidFill>
                  <a:srgbClr val="1565C0"/>
                </a:solidFill>
                <a:latin typeface="Comic Sans MS"/>
                <a:ea typeface="Comic Sans MS"/>
                <a:cs typeface="Comic Sans MS"/>
                <a:sym typeface="Comic Sans MS"/>
              </a:rPr>
              <a:t>Average Memory Access Time (AMAT)</a:t>
            </a:r>
            <a:endParaRPr b="1" i="0" sz="1124" u="none" strike="noStrike">
              <a:solidFill>
                <a:srgbClr val="1565C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7655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63238"/>
              </a:buClr>
              <a:buSzPts val="930"/>
              <a:buFont typeface="Comic Sans MS"/>
              <a:buChar char="●"/>
            </a:pPr>
            <a:r>
              <a:rPr b="1" i="0" lang="en-GB" sz="93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Formula:</a:t>
            </a:r>
            <a:r>
              <a:rPr b="0" i="0" lang="en-GB" sz="93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AMAT = Hit Time + (Miss Rate × Miss Penalty)</a:t>
            </a:r>
            <a:endParaRPr b="0" i="0" sz="1124" u="none" strike="noStrike">
              <a:solidFill>
                <a:srgbClr val="1565C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765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930"/>
              <a:buFont typeface="Comic Sans MS"/>
              <a:buChar char="●"/>
            </a:pPr>
            <a:r>
              <a:rPr b="0" i="0" lang="en-GB" sz="93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High hit rates ensure the CPU rarely experiences the full DRAM access delay.</a:t>
            </a:r>
            <a:endParaRPr b="0" i="0" sz="1124" u="none" strike="noStrike">
              <a:solidFill>
                <a:srgbClr val="1565C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765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263238"/>
              </a:buClr>
              <a:buSzPts val="930"/>
              <a:buFont typeface="Comic Sans MS"/>
              <a:buChar char="●"/>
            </a:pPr>
            <a:r>
              <a:rPr b="0" i="0" lang="en-GB" sz="93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Performance optimization balances cache capacity, line size, and associativity.</a:t>
            </a:r>
            <a:endParaRPr b="1" i="0" sz="1124" u="none" strike="noStrike">
              <a:solidFill>
                <a:srgbClr val="1565C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9E7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/>
        </p:nvSpPr>
        <p:spPr>
          <a:xfrm>
            <a:off x="476250" y="190500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60">
                <a:solidFill>
                  <a:srgbClr val="D81B60"/>
                </a:solidFill>
                <a:latin typeface="Comic Sans MS"/>
                <a:ea typeface="Comic Sans MS"/>
                <a:cs typeface="Comic Sans MS"/>
                <a:sym typeface="Comic Sans MS"/>
              </a:rPr>
              <a:t>Virtual Memory Architecture</a:t>
            </a:r>
            <a:endParaRPr b="1" sz="1860">
              <a:solidFill>
                <a:srgbClr val="D81B6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476250" y="647700"/>
            <a:ext cx="8191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978">
                <a:solidFill>
                  <a:srgbClr val="1E88E5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Presented by: Member 4 (Srinivas) | Address Translation &amp; Paging</a:t>
            </a:r>
            <a:endParaRPr i="1" sz="978">
              <a:solidFill>
                <a:srgbClr val="1E88E5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6" name="Google Shape;126;p21"/>
          <p:cNvSpPr/>
          <p:nvPr/>
        </p:nvSpPr>
        <p:spPr>
          <a:xfrm>
            <a:off x="476250" y="1095375"/>
            <a:ext cx="3952800" cy="366720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43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1"/>
          <p:cNvSpPr txBox="1"/>
          <p:nvPr/>
        </p:nvSpPr>
        <p:spPr>
          <a:xfrm>
            <a:off x="609600" y="1209675"/>
            <a:ext cx="3686100" cy="3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50" u="none" strike="noStrike">
                <a:solidFill>
                  <a:srgbClr val="283593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Concept &amp; Hardware Support</a:t>
            </a:r>
            <a:endParaRPr b="1" i="0" sz="1450" u="none" strike="noStrike">
              <a:solidFill>
                <a:srgbClr val="28359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omic Sans MS"/>
              <a:buChar char="●"/>
            </a:pPr>
            <a:r>
              <a:rPr b="1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Logical Address Space:</a:t>
            </a:r>
            <a:r>
              <a:rPr b="0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Grants programs an illusion of large, contiguous memory.</a:t>
            </a:r>
            <a:endParaRPr b="0" i="0" sz="1450" u="none" strike="noStrike">
              <a:solidFill>
                <a:srgbClr val="28359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omic Sans MS"/>
              <a:buChar char="●"/>
            </a:pPr>
            <a:r>
              <a:rPr b="1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Overcoming Physical RAM Limits:</a:t>
            </a:r>
            <a:r>
              <a:rPr b="0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Programs can run even if they exceed physical RAM size.</a:t>
            </a:r>
            <a:endParaRPr b="0" i="0" sz="1450" u="none" strike="noStrike">
              <a:solidFill>
                <a:srgbClr val="28359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omic Sans MS"/>
              <a:buChar char="●"/>
            </a:pPr>
            <a:r>
              <a:rPr b="1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Memory Management Unit (MMU):</a:t>
            </a:r>
            <a:r>
              <a:rPr b="0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Hardware component performing fast address translation.</a:t>
            </a:r>
            <a:endParaRPr b="0" i="0" sz="1450" u="none" strike="noStrike">
              <a:solidFill>
                <a:srgbClr val="283593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263238"/>
              </a:buClr>
              <a:buSzPts val="1200"/>
              <a:buFont typeface="Comic Sans MS"/>
              <a:buChar char="●"/>
            </a:pPr>
            <a:r>
              <a:rPr b="1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Separation:</a:t>
            </a:r>
            <a:r>
              <a:rPr b="0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Decouples user logical addresses from actual physical memory locations.</a:t>
            </a:r>
            <a:endParaRPr b="1" i="0" sz="1450" u="none" strike="noStrike">
              <a:solidFill>
                <a:srgbClr val="283593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8" name="Google Shape;128;p21"/>
          <p:cNvSpPr/>
          <p:nvPr/>
        </p:nvSpPr>
        <p:spPr>
          <a:xfrm>
            <a:off x="4714875" y="1095375"/>
            <a:ext cx="3952800" cy="366720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43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1"/>
          <p:cNvSpPr txBox="1"/>
          <p:nvPr/>
        </p:nvSpPr>
        <p:spPr>
          <a:xfrm>
            <a:off x="4848225" y="1209675"/>
            <a:ext cx="3686100" cy="3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41" u="none" strike="noStrike">
                <a:solidFill>
                  <a:srgbClr val="00695C"/>
                </a:solidFill>
                <a:latin typeface="Comic Sans MS"/>
                <a:ea typeface="Comic Sans MS"/>
                <a:cs typeface="Comic Sans MS"/>
                <a:sym typeface="Comic Sans MS"/>
              </a:rPr>
              <a:t>Paging &amp; Page Fault Mechanism</a:t>
            </a:r>
            <a:endParaRPr b="1" i="0" sz="1341" u="none" strike="noStrike">
              <a:solidFill>
                <a:srgbClr val="00695C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1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Pages &amp; Frames:</a:t>
            </a:r>
            <a:r>
              <a:rPr b="0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Virtual memory is divided into fixed pages; physical RAM into page frames.</a:t>
            </a:r>
            <a:endParaRPr b="0" i="0" sz="1341" u="none" strike="noStrike">
              <a:solidFill>
                <a:srgbClr val="00695C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1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Page Table:</a:t>
            </a:r>
            <a:r>
              <a:rPr b="0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Maps process virtual pages to corresponding physical RAM frames.</a:t>
            </a:r>
            <a:endParaRPr b="0" i="0" sz="1341" u="none" strike="noStrike">
              <a:solidFill>
                <a:srgbClr val="00695C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1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Page Fault:</a:t>
            </a:r>
            <a:r>
              <a:rPr b="0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Triggered when an active instruction references a page not currently in RAM.</a:t>
            </a:r>
            <a:endParaRPr b="0" i="0" sz="1341" u="none" strike="noStrike">
              <a:solidFill>
                <a:srgbClr val="00695C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1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Demand Paging:</a:t>
            </a:r>
            <a:r>
              <a:rPr b="0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OS retrieves required page from secondary storage into free RAM frame.</a:t>
            </a:r>
            <a:endParaRPr b="0" i="0" sz="1341" u="none" strike="noStrike">
              <a:solidFill>
                <a:srgbClr val="00695C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1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Replacement Policy:</a:t>
            </a:r>
            <a:r>
              <a:rPr b="0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Replaces inactive pages (using LRU or FIFO) when memory is full.</a:t>
            </a:r>
            <a:endParaRPr b="1" i="0" sz="1341" u="none" strike="noStrike">
              <a:solidFill>
                <a:srgbClr val="00695C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9E7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/>
        </p:nvSpPr>
        <p:spPr>
          <a:xfrm>
            <a:off x="476250" y="190500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60">
                <a:solidFill>
                  <a:srgbClr val="D81B60"/>
                </a:solidFill>
                <a:latin typeface="Comic Sans MS"/>
                <a:ea typeface="Comic Sans MS"/>
                <a:cs typeface="Comic Sans MS"/>
                <a:sym typeface="Comic Sans MS"/>
              </a:rPr>
              <a:t>Memory Management Requirements</a:t>
            </a:r>
            <a:endParaRPr b="1" sz="1860">
              <a:solidFill>
                <a:srgbClr val="D81B6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5" name="Google Shape;135;p22"/>
          <p:cNvSpPr txBox="1"/>
          <p:nvPr/>
        </p:nvSpPr>
        <p:spPr>
          <a:xfrm>
            <a:off x="476250" y="647700"/>
            <a:ext cx="8191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978">
                <a:solidFill>
                  <a:srgbClr val="1E88E5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Presented by: Member 4 (Srinivas) | Core Operating System Functions</a:t>
            </a:r>
            <a:endParaRPr i="1" sz="978">
              <a:solidFill>
                <a:srgbClr val="1E88E5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6" name="Google Shape;136;p22"/>
          <p:cNvSpPr/>
          <p:nvPr/>
        </p:nvSpPr>
        <p:spPr>
          <a:xfrm>
            <a:off x="476250" y="1095375"/>
            <a:ext cx="2571900" cy="3667200"/>
          </a:xfrm>
          <a:prstGeom prst="roundRect">
            <a:avLst>
              <a:gd fmla="val 3703" name="adj"/>
            </a:avLst>
          </a:prstGeom>
          <a:solidFill>
            <a:srgbClr val="FFFFFF"/>
          </a:solidFill>
          <a:ln cap="flat" cmpd="sng" w="143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2"/>
          <p:cNvSpPr txBox="1"/>
          <p:nvPr/>
        </p:nvSpPr>
        <p:spPr>
          <a:xfrm>
            <a:off x="609600" y="1209675"/>
            <a:ext cx="2305200" cy="3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33" u="none" strike="noStrike">
                <a:solidFill>
                  <a:srgbClr val="C2185B"/>
                </a:solidFill>
                <a:latin typeface="Comic Sans MS"/>
                <a:ea typeface="Comic Sans MS"/>
                <a:cs typeface="Comic Sans MS"/>
                <a:sym typeface="Comic Sans MS"/>
              </a:rPr>
              <a:t>Relocation &amp; Protection</a:t>
            </a:r>
            <a:endParaRPr b="1" i="0" sz="1233" u="none" strike="noStrike">
              <a:solidFill>
                <a:srgbClr val="C2185B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337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63238"/>
              </a:buClr>
              <a:buSzPts val="1020"/>
              <a:buFont typeface="Comic Sans MS"/>
              <a:buChar char="●"/>
            </a:pPr>
            <a:r>
              <a:rPr b="1" i="0" lang="en-GB" sz="102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Relocation:</a:t>
            </a:r>
            <a:endParaRPr b="0" i="0" sz="1233" u="none" strike="noStrike">
              <a:solidFill>
                <a:srgbClr val="C2185B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337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020"/>
              <a:buFont typeface="Comic Sans MS"/>
              <a:buChar char="●"/>
            </a:pPr>
            <a:r>
              <a:rPr b="0" i="0" lang="en-GB" sz="102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 • Translates logical program addresses dynamically.</a:t>
            </a:r>
            <a:endParaRPr b="0" i="0" sz="1233" u="none" strike="noStrike">
              <a:solidFill>
                <a:srgbClr val="C2185B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337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020"/>
              <a:buFont typeface="Comic Sans MS"/>
              <a:buChar char="●"/>
            </a:pPr>
            <a:r>
              <a:rPr b="0" i="0" lang="en-GB" sz="102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 • Allows programs to be loaded anywhere in RAM upon execution.</a:t>
            </a:r>
            <a:endParaRPr b="0" i="0" sz="1233" u="none" strike="noStrike">
              <a:solidFill>
                <a:srgbClr val="C2185B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337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020"/>
              <a:buFont typeface="Comic Sans MS"/>
              <a:buChar char="●"/>
            </a:pPr>
            <a:r>
              <a:rPr b="1" i="0" lang="en-GB" sz="102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Protection:</a:t>
            </a:r>
            <a:endParaRPr b="0" i="0" sz="1233" u="none" strike="noStrike">
              <a:solidFill>
                <a:srgbClr val="C2185B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337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020"/>
              <a:buFont typeface="Comic Sans MS"/>
              <a:buChar char="●"/>
            </a:pPr>
            <a:r>
              <a:rPr b="0" i="0" lang="en-GB" sz="102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 • Prevents processes from unauthorized access to other memory areas.</a:t>
            </a:r>
            <a:endParaRPr b="0" i="0" sz="1233" u="none" strike="noStrike">
              <a:solidFill>
                <a:srgbClr val="C2185B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337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263238"/>
              </a:buClr>
              <a:buSzPts val="1020"/>
              <a:buFont typeface="Comic Sans MS"/>
              <a:buChar char="●"/>
            </a:pPr>
            <a:r>
              <a:rPr b="0" i="0" lang="en-GB" sz="102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 • Enforced by hardware base/limit registers.</a:t>
            </a:r>
            <a:endParaRPr b="1" i="0" sz="1233" u="none" strike="noStrike">
              <a:solidFill>
                <a:srgbClr val="C2185B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8" name="Google Shape;138;p22"/>
          <p:cNvSpPr/>
          <p:nvPr/>
        </p:nvSpPr>
        <p:spPr>
          <a:xfrm>
            <a:off x="3286125" y="1095375"/>
            <a:ext cx="2571900" cy="3667200"/>
          </a:xfrm>
          <a:prstGeom prst="roundRect">
            <a:avLst>
              <a:gd fmla="val 3703" name="adj"/>
            </a:avLst>
          </a:prstGeom>
          <a:solidFill>
            <a:srgbClr val="FFFFFF"/>
          </a:solidFill>
          <a:ln cap="flat" cmpd="sng" w="143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2"/>
          <p:cNvSpPr txBox="1"/>
          <p:nvPr/>
        </p:nvSpPr>
        <p:spPr>
          <a:xfrm>
            <a:off x="3419475" y="1209675"/>
            <a:ext cx="2305200" cy="3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33" u="none" strike="noStrike">
                <a:solidFill>
                  <a:srgbClr val="1E88E5"/>
                </a:solidFill>
                <a:latin typeface="Comic Sans MS"/>
                <a:ea typeface="Comic Sans MS"/>
                <a:cs typeface="Comic Sans MS"/>
                <a:sym typeface="Comic Sans MS"/>
              </a:rPr>
              <a:t>Sharing &amp; Modularity</a:t>
            </a:r>
            <a:endParaRPr b="1" i="0" sz="1233" u="none" strike="noStrike">
              <a:solidFill>
                <a:srgbClr val="1E88E5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337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63238"/>
              </a:buClr>
              <a:buSzPts val="1020"/>
              <a:buFont typeface="Comic Sans MS"/>
              <a:buChar char="●"/>
            </a:pPr>
            <a:r>
              <a:rPr b="1" i="0" lang="en-GB" sz="102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Sharing:</a:t>
            </a:r>
            <a:endParaRPr b="0" i="0" sz="1233" u="none" strike="noStrike">
              <a:solidFill>
                <a:srgbClr val="1E88E5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337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020"/>
              <a:buFont typeface="Comic Sans MS"/>
              <a:buChar char="●"/>
            </a:pPr>
            <a:r>
              <a:rPr b="0" i="0" lang="en-GB" sz="102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 • Allows multiple cooperating processes to access common code safely.</a:t>
            </a:r>
            <a:endParaRPr b="0" i="0" sz="1233" u="none" strike="noStrike">
              <a:solidFill>
                <a:srgbClr val="1E88E5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337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020"/>
              <a:buFont typeface="Comic Sans MS"/>
              <a:buChar char="●"/>
            </a:pPr>
            <a:r>
              <a:rPr b="0" i="0" lang="en-GB" sz="102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 • Shared system libraries (DLLs) save valuable physical RAM space.</a:t>
            </a:r>
            <a:endParaRPr b="0" i="0" sz="1233" u="none" strike="noStrike">
              <a:solidFill>
                <a:srgbClr val="1E88E5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337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020"/>
              <a:buFont typeface="Comic Sans MS"/>
              <a:buChar char="●"/>
            </a:pPr>
            <a:r>
              <a:rPr b="1" i="0" lang="en-GB" sz="102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Logical Organization:</a:t>
            </a:r>
            <a:endParaRPr b="0" i="0" sz="1233" u="none" strike="noStrike">
              <a:solidFill>
                <a:srgbClr val="1E88E5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337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263238"/>
              </a:buClr>
              <a:buSzPts val="1020"/>
              <a:buFont typeface="Comic Sans MS"/>
              <a:buChar char="●"/>
            </a:pPr>
            <a:r>
              <a:rPr b="0" i="0" lang="en-GB" sz="102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 • Structures memory into logical modules, procedures, and data arrays.</a:t>
            </a:r>
            <a:endParaRPr b="1" i="0" sz="1233" u="none" strike="noStrike">
              <a:solidFill>
                <a:srgbClr val="1E88E5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0" name="Google Shape;140;p22"/>
          <p:cNvSpPr/>
          <p:nvPr/>
        </p:nvSpPr>
        <p:spPr>
          <a:xfrm>
            <a:off x="6096000" y="1095375"/>
            <a:ext cx="2571900" cy="3667200"/>
          </a:xfrm>
          <a:prstGeom prst="roundRect">
            <a:avLst>
              <a:gd fmla="val 3703" name="adj"/>
            </a:avLst>
          </a:prstGeom>
          <a:solidFill>
            <a:srgbClr val="FFFFFF"/>
          </a:solidFill>
          <a:ln cap="flat" cmpd="sng" w="143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2"/>
          <p:cNvSpPr txBox="1"/>
          <p:nvPr/>
        </p:nvSpPr>
        <p:spPr>
          <a:xfrm>
            <a:off x="6229350" y="1209675"/>
            <a:ext cx="2305200" cy="3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41" u="none" strike="noStrike">
                <a:solidFill>
                  <a:srgbClr val="2E7D32"/>
                </a:solidFill>
                <a:latin typeface="Comic Sans MS"/>
                <a:ea typeface="Comic Sans MS"/>
                <a:cs typeface="Comic Sans MS"/>
                <a:sym typeface="Comic Sans MS"/>
              </a:rPr>
              <a:t>Physical Organization</a:t>
            </a:r>
            <a:endParaRPr b="1" i="0" sz="1341" u="none" strike="noStrike">
              <a:solidFill>
                <a:srgbClr val="2E7D3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1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Two-Tier Flow:</a:t>
            </a:r>
            <a:endParaRPr b="0" i="0" sz="1341" u="none" strike="noStrike">
              <a:solidFill>
                <a:srgbClr val="2E7D3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0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 • Coordinates transparent data flow between volatile RAM and secondary storage.</a:t>
            </a:r>
            <a:endParaRPr b="0" i="0" sz="1341" u="none" strike="noStrike">
              <a:solidFill>
                <a:srgbClr val="2E7D3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1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 Responsibility:</a:t>
            </a:r>
            <a:endParaRPr b="0" i="0" sz="1341" u="none" strike="noStrike">
              <a:solidFill>
                <a:srgbClr val="2E7D3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0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 • Managed by OS kernel and hardware without burdening application programmer.</a:t>
            </a:r>
            <a:endParaRPr b="0" i="0" sz="1341" u="none" strike="noStrike">
              <a:solidFill>
                <a:srgbClr val="2E7D3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0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Maximizes multitasking throughput and stability.</a:t>
            </a:r>
            <a:endParaRPr b="1" i="0" sz="1341" u="none" strike="noStrike">
              <a:solidFill>
                <a:srgbClr val="2E7D3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9E7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/>
        </p:nvSpPr>
        <p:spPr>
          <a:xfrm>
            <a:off x="476250" y="190500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60">
                <a:solidFill>
                  <a:srgbClr val="D81B60"/>
                </a:solidFill>
                <a:latin typeface="Comic Sans MS"/>
                <a:ea typeface="Comic Sans MS"/>
                <a:cs typeface="Comic Sans MS"/>
                <a:sym typeface="Comic Sans MS"/>
              </a:rPr>
              <a:t>Secondary Storage Systems</a:t>
            </a:r>
            <a:endParaRPr b="1" sz="1860">
              <a:solidFill>
                <a:srgbClr val="D81B6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7" name="Google Shape;147;p23"/>
          <p:cNvSpPr txBox="1"/>
          <p:nvPr/>
        </p:nvSpPr>
        <p:spPr>
          <a:xfrm>
            <a:off x="476250" y="647700"/>
            <a:ext cx="8191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978">
                <a:solidFill>
                  <a:srgbClr val="1E88E5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Presented by: Member 5 (Manohar) | Non-Volatile Mass Storage</a:t>
            </a:r>
            <a:endParaRPr i="1" sz="978">
              <a:solidFill>
                <a:srgbClr val="1E88E5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8" name="Google Shape;148;p23"/>
          <p:cNvSpPr/>
          <p:nvPr/>
        </p:nvSpPr>
        <p:spPr>
          <a:xfrm>
            <a:off x="476250" y="1095375"/>
            <a:ext cx="3952800" cy="366720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43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3"/>
          <p:cNvSpPr txBox="1"/>
          <p:nvPr/>
        </p:nvSpPr>
        <p:spPr>
          <a:xfrm>
            <a:off x="609600" y="1209675"/>
            <a:ext cx="3686100" cy="3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50" u="none" strike="noStrike">
                <a:solidFill>
                  <a:srgbClr val="D84315"/>
                </a:solidFill>
                <a:latin typeface="Comic Sans MS"/>
                <a:ea typeface="Comic Sans MS"/>
                <a:cs typeface="Comic Sans MS"/>
                <a:sym typeface="Comic Sans MS"/>
              </a:rPr>
              <a:t>Role in Memory Hierarchy</a:t>
            </a:r>
            <a:endParaRPr b="1" i="0" sz="1450" u="none" strike="noStrike">
              <a:solidFill>
                <a:srgbClr val="D84315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omic Sans MS"/>
              <a:buChar char="●"/>
            </a:pPr>
            <a:r>
              <a:rPr b="1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Permanent Data Repository:</a:t>
            </a:r>
            <a:r>
              <a:rPr b="0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Non-volatile storage for OS kernel, applications, and user files.</a:t>
            </a:r>
            <a:endParaRPr b="0" i="0" sz="1450" u="none" strike="noStrike">
              <a:solidFill>
                <a:srgbClr val="D84315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omic Sans MS"/>
              <a:buChar char="●"/>
            </a:pPr>
            <a:r>
              <a:rPr b="1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Massive Capacity:</a:t>
            </a:r>
            <a:r>
              <a:rPr b="0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Provides hundreds of gigabytes to several terabytes of storage volume.</a:t>
            </a:r>
            <a:endParaRPr b="0" i="0" sz="1450" u="none" strike="noStrike">
              <a:solidFill>
                <a:srgbClr val="D84315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200"/>
              <a:buFont typeface="Comic Sans MS"/>
              <a:buChar char="●"/>
            </a:pPr>
            <a:r>
              <a:rPr b="1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Lowest Cost per Bit:</a:t>
            </a:r>
            <a:r>
              <a:rPr b="0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Highly economical compared to semiconductor SRAM and DRAM.</a:t>
            </a:r>
            <a:endParaRPr b="0" i="0" sz="1450" u="none" strike="noStrike">
              <a:solidFill>
                <a:srgbClr val="D84315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263238"/>
              </a:buClr>
              <a:buSzPts val="1200"/>
              <a:buFont typeface="Comic Sans MS"/>
              <a:buChar char="●"/>
            </a:pPr>
            <a:r>
              <a:rPr b="1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Virtual Memory Backing:</a:t>
            </a:r>
            <a:r>
              <a:rPr b="0" i="0" lang="en-GB" sz="120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Serves as swap space holding inactive pages displaced from RAM.</a:t>
            </a:r>
            <a:endParaRPr b="1" i="0" sz="1450" u="none" strike="noStrike">
              <a:solidFill>
                <a:srgbClr val="D84315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0" name="Google Shape;150;p23"/>
          <p:cNvSpPr/>
          <p:nvPr/>
        </p:nvSpPr>
        <p:spPr>
          <a:xfrm>
            <a:off x="4714875" y="1095375"/>
            <a:ext cx="3952800" cy="366720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43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3"/>
          <p:cNvSpPr txBox="1"/>
          <p:nvPr/>
        </p:nvSpPr>
        <p:spPr>
          <a:xfrm>
            <a:off x="4848225" y="1209675"/>
            <a:ext cx="3686100" cy="3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341" u="none" strike="noStrike">
                <a:solidFill>
                  <a:srgbClr val="4527A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Storage Media Technologies</a:t>
            </a:r>
            <a:endParaRPr b="1" i="0" sz="1341" u="none" strike="noStrike">
              <a:solidFill>
                <a:srgbClr val="4527A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1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Solid State Drives (SSD):</a:t>
            </a:r>
            <a:endParaRPr b="0" i="0" sz="1341" u="none" strike="noStrike">
              <a:solidFill>
                <a:srgbClr val="4527A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0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 • Uses NAND flash memory; no moving parts, high IOPS, fast random access.</a:t>
            </a:r>
            <a:endParaRPr b="0" i="0" sz="1341" u="none" strike="noStrike">
              <a:solidFill>
                <a:srgbClr val="4527A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1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Hard Disk Drives (HDD):</a:t>
            </a:r>
            <a:endParaRPr b="0" i="0" sz="1341" u="none" strike="noStrike">
              <a:solidFill>
                <a:srgbClr val="4527A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0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 • Magnetic platters with mechanical read/write arms; high capacity, cost-effective.</a:t>
            </a:r>
            <a:endParaRPr b="0" i="0" sz="1341" u="none" strike="noStrike">
              <a:solidFill>
                <a:srgbClr val="4527A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1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Optical Discs (CD/DVD/Blu-ray):</a:t>
            </a:r>
            <a:endParaRPr b="0" i="0" sz="1341" u="none" strike="noStrike">
              <a:solidFill>
                <a:srgbClr val="4527A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0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 • Laser-based optical tracks; used for archival media distribution.</a:t>
            </a:r>
            <a:endParaRPr b="0" i="0" sz="1341" u="none" strike="noStrike">
              <a:solidFill>
                <a:srgbClr val="4527A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9085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263238"/>
              </a:buClr>
              <a:buSzPts val="1110"/>
              <a:buFont typeface="Comic Sans MS"/>
              <a:buChar char="●"/>
            </a:pPr>
            <a:r>
              <a:rPr b="1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Removable USB Flash Drives:</a:t>
            </a:r>
            <a:r>
              <a:rPr b="0" i="0" lang="en-GB" sz="111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Portable storage using flash memory.</a:t>
            </a:r>
            <a:endParaRPr b="1" i="0" sz="1341" u="none" strike="noStrike">
              <a:solidFill>
                <a:srgbClr val="4527A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9E7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4"/>
          <p:cNvSpPr txBox="1"/>
          <p:nvPr/>
        </p:nvSpPr>
        <p:spPr>
          <a:xfrm>
            <a:off x="476250" y="190500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60">
                <a:solidFill>
                  <a:srgbClr val="D81B6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Comparison of Memory Levels</a:t>
            </a:r>
            <a:endParaRPr b="1" sz="1860">
              <a:solidFill>
                <a:srgbClr val="D81B6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7" name="Google Shape;157;p24"/>
          <p:cNvSpPr txBox="1"/>
          <p:nvPr/>
        </p:nvSpPr>
        <p:spPr>
          <a:xfrm>
            <a:off x="476250" y="647700"/>
            <a:ext cx="8191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978">
                <a:solidFill>
                  <a:srgbClr val="1E88E5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Presented by: Member 5 (Manohar) | Quantitative Summary Across Hierarchy</a:t>
            </a:r>
            <a:endParaRPr i="1" sz="978">
              <a:solidFill>
                <a:srgbClr val="1E88E5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aphicFrame>
        <p:nvGraphicFramePr>
          <p:cNvPr id="158" name="Google Shape;158;p24"/>
          <p:cNvGraphicFramePr/>
          <p:nvPr/>
        </p:nvGraphicFramePr>
        <p:xfrm>
          <a:off x="476250" y="104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{6C216BF7-E8DB-4A8E-85B1-1DF4C428C73D}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200" u="none" strike="noStrike">
                          <a:solidFill>
                            <a:srgbClr val="4A148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Memory Level</a:t>
                      </a:r>
                      <a:endParaRPr b="1" i="0" sz="1200" u="none" strike="noStrike">
                        <a:solidFill>
                          <a:srgbClr val="4A148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BE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200" u="none" strike="noStrike">
                          <a:solidFill>
                            <a:srgbClr val="4A148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Typical Technology</a:t>
                      </a:r>
                      <a:endParaRPr b="1" i="0" sz="1200" u="none" strike="noStrike">
                        <a:solidFill>
                          <a:srgbClr val="4A148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BE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200" u="none" strike="noStrike">
                          <a:solidFill>
                            <a:srgbClr val="4A148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Access Speed</a:t>
                      </a:r>
                      <a:endParaRPr b="1" i="0" sz="1200" u="none" strike="noStrike">
                        <a:solidFill>
                          <a:srgbClr val="4A148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BE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200" u="none" strike="noStrike">
                          <a:solidFill>
                            <a:srgbClr val="4A148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Typical Capacity</a:t>
                      </a:r>
                      <a:endParaRPr b="1" i="0" sz="1200" u="none" strike="noStrike">
                        <a:solidFill>
                          <a:srgbClr val="4A148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BE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200" u="none" strike="noStrike">
                          <a:solidFill>
                            <a:srgbClr val="4A148C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Cost per Bit</a:t>
                      </a:r>
                      <a:endParaRPr b="1" i="0" sz="1200" u="none" strike="noStrike">
                        <a:solidFill>
                          <a:srgbClr val="4A148C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BEE7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100" u="none" strike="noStrike">
                          <a:solidFill>
                            <a:srgbClr val="311B9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CPU Registers</a:t>
                      </a:r>
                      <a:endParaRPr b="1" i="0" sz="1100" u="none" strike="noStrike">
                        <a:solidFill>
                          <a:srgbClr val="311B9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100" u="none" strike="noStrike">
                          <a:solidFill>
                            <a:srgbClr val="263238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Flip-Flops (CMOS)</a:t>
                      </a:r>
                      <a:endParaRPr b="0" i="0" sz="1100" u="none" strike="noStrike">
                        <a:solidFill>
                          <a:srgbClr val="263238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100" u="none" strike="noStrike">
                          <a:solidFill>
                            <a:srgbClr val="263238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Fastest (&lt; 1 ns)</a:t>
                      </a:r>
                      <a:endParaRPr b="0" i="0" sz="1100" u="none" strike="noStrike">
                        <a:solidFill>
                          <a:srgbClr val="263238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100" u="none" strike="noStrike">
                          <a:solidFill>
                            <a:srgbClr val="263238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Bytes to Kilobytes</a:t>
                      </a:r>
                      <a:endParaRPr b="0" i="0" sz="1100" u="none" strike="noStrike">
                        <a:solidFill>
                          <a:srgbClr val="263238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100" u="none" strike="noStrike">
                          <a:solidFill>
                            <a:srgbClr val="263238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Highest</a:t>
                      </a:r>
                      <a:endParaRPr b="0" i="0" sz="1100" u="none" strike="noStrike">
                        <a:solidFill>
                          <a:srgbClr val="263238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100" u="none" strike="noStrike">
                          <a:solidFill>
                            <a:srgbClr val="311B9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Cache Memory</a:t>
                      </a:r>
                      <a:endParaRPr b="1" i="0" sz="1100" u="none" strike="noStrike">
                        <a:solidFill>
                          <a:srgbClr val="311B9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100" u="none" strike="noStrike">
                          <a:solidFill>
                            <a:srgbClr val="263238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Static RAM (SRAM)</a:t>
                      </a:r>
                      <a:endParaRPr b="0" i="0" sz="1100" u="none" strike="noStrike">
                        <a:solidFill>
                          <a:srgbClr val="263238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100" u="none" strike="noStrike">
                          <a:solidFill>
                            <a:srgbClr val="263238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Very Fast (1-10 ns)</a:t>
                      </a:r>
                      <a:endParaRPr b="0" i="0" sz="1100" u="none" strike="noStrike">
                        <a:solidFill>
                          <a:srgbClr val="263238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100" u="none" strike="noStrike">
                          <a:solidFill>
                            <a:srgbClr val="263238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Kilobytes to Megabytes</a:t>
                      </a:r>
                      <a:endParaRPr b="0" i="0" sz="1100" u="none" strike="noStrike">
                        <a:solidFill>
                          <a:srgbClr val="263238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100" u="none" strike="noStrike">
                          <a:solidFill>
                            <a:srgbClr val="263238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Very High</a:t>
                      </a:r>
                      <a:endParaRPr b="0" i="0" sz="1100" u="none" strike="noStrike">
                        <a:solidFill>
                          <a:srgbClr val="263238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5F5"/>
                    </a:solidFill>
                  </a:tcPr>
                </a:tc>
              </a:tr>
              <a:tr h="30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100" u="none" strike="noStrike">
                          <a:solidFill>
                            <a:srgbClr val="311B9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Main Memory</a:t>
                      </a:r>
                      <a:endParaRPr b="1" i="0" sz="1100" u="none" strike="noStrike">
                        <a:solidFill>
                          <a:srgbClr val="311B9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100" u="none" strike="noStrike">
                          <a:solidFill>
                            <a:srgbClr val="263238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Dynamic RAM (DRAM)</a:t>
                      </a:r>
                      <a:endParaRPr b="0" i="0" sz="1100" u="none" strike="noStrike">
                        <a:solidFill>
                          <a:srgbClr val="263238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100" u="none" strike="noStrike">
                          <a:solidFill>
                            <a:srgbClr val="263238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Moderate (50-100 ns)</a:t>
                      </a:r>
                      <a:endParaRPr b="0" i="0" sz="1100" u="none" strike="noStrike">
                        <a:solidFill>
                          <a:srgbClr val="263238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100" u="none" strike="noStrike">
                          <a:solidFill>
                            <a:srgbClr val="263238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Gigabytes (8-64 GB)</a:t>
                      </a:r>
                      <a:endParaRPr b="0" i="0" sz="1100" u="none" strike="noStrike">
                        <a:solidFill>
                          <a:srgbClr val="263238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100" u="none" strike="noStrike">
                          <a:solidFill>
                            <a:srgbClr val="263238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Moderate</a:t>
                      </a:r>
                      <a:endParaRPr b="0" i="0" sz="1100" u="none" strike="noStrike">
                        <a:solidFill>
                          <a:srgbClr val="263238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GB" sz="1100" u="none" strike="noStrike">
                          <a:solidFill>
                            <a:srgbClr val="311B92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Secondary Storage</a:t>
                      </a:r>
                      <a:endParaRPr b="1" i="0" sz="1100" u="none" strike="noStrike">
                        <a:solidFill>
                          <a:srgbClr val="311B92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100" u="none" strike="noStrike">
                          <a:solidFill>
                            <a:srgbClr val="263238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SSD Flash / HDD Magnetic</a:t>
                      </a:r>
                      <a:endParaRPr b="0" i="0" sz="1100" u="none" strike="noStrike">
                        <a:solidFill>
                          <a:srgbClr val="263238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100" u="none" strike="noStrike">
                          <a:solidFill>
                            <a:srgbClr val="263238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Slower (Micro to Milliseconds)</a:t>
                      </a:r>
                      <a:endParaRPr b="0" i="0" sz="1100" u="none" strike="noStrike">
                        <a:solidFill>
                          <a:srgbClr val="263238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100" u="none" strike="noStrike">
                          <a:solidFill>
                            <a:srgbClr val="263238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Terabytes (512 GB - 4 TB)</a:t>
                      </a:r>
                      <a:endParaRPr b="0" i="0" sz="1100" u="none" strike="noStrike">
                        <a:solidFill>
                          <a:srgbClr val="263238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GB" sz="1100" u="none" strike="noStrike">
                          <a:solidFill>
                            <a:srgbClr val="263238"/>
                          </a:solidFill>
                          <a:latin typeface="Comic Sans MS"/>
                          <a:ea typeface="Comic Sans MS"/>
                          <a:cs typeface="Comic Sans MS"/>
                          <a:sym typeface="Comic Sans MS"/>
                        </a:rPr>
                        <a:t>Lowest</a:t>
                      </a:r>
                      <a:endParaRPr b="0" i="0" sz="1100" u="none" strike="noStrike">
                        <a:solidFill>
                          <a:srgbClr val="263238"/>
                        </a:solidFill>
                        <a:latin typeface="Comic Sans MS"/>
                        <a:ea typeface="Comic Sans MS"/>
                        <a:cs typeface="Comic Sans MS"/>
                        <a:sym typeface="Comic Sans M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A68C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5F5"/>
                    </a:solidFill>
                  </a:tcPr>
                </a:tc>
              </a:tr>
            </a:tbl>
          </a:graphicData>
        </a:graphic>
      </p:graphicFrame>
      <p:sp>
        <p:nvSpPr>
          <p:cNvPr id="159" name="Google Shape;159;p24"/>
          <p:cNvSpPr/>
          <p:nvPr/>
        </p:nvSpPr>
        <p:spPr>
          <a:xfrm>
            <a:off x="476250" y="3619500"/>
            <a:ext cx="8191500" cy="1190700"/>
          </a:xfrm>
          <a:prstGeom prst="roundRect">
            <a:avLst>
              <a:gd fmla="val 7999" name="adj"/>
            </a:avLst>
          </a:prstGeom>
          <a:solidFill>
            <a:srgbClr val="FFFFFF"/>
          </a:solidFill>
          <a:ln cap="flat" cmpd="sng" w="143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4"/>
          <p:cNvSpPr txBox="1"/>
          <p:nvPr/>
        </p:nvSpPr>
        <p:spPr>
          <a:xfrm>
            <a:off x="609600" y="3695700"/>
            <a:ext cx="79248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08" u="none" strike="noStrike">
                <a:solidFill>
                  <a:srgbClr val="6A1B9A"/>
                </a:solidFill>
                <a:latin typeface="Comic Sans MS"/>
                <a:ea typeface="Comic Sans MS"/>
                <a:cs typeface="Comic Sans MS"/>
                <a:sym typeface="Comic Sans MS"/>
              </a:rPr>
              <a:t>Key Takeaway on Memory Trade-offs</a:t>
            </a:r>
            <a:endParaRPr b="1" i="0" sz="1008" u="none" strike="noStrike">
              <a:solidFill>
                <a:srgbClr val="6A1B9A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194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63238"/>
              </a:buClr>
              <a:buSzPts val="891"/>
              <a:buFont typeface="Comic Sans MS"/>
              <a:buChar char="●"/>
            </a:pPr>
            <a:r>
              <a:rPr b="1" i="0" lang="en-GB" sz="891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As we move downward:</a:t>
            </a:r>
            <a:r>
              <a:rPr b="0" i="0" lang="en-GB" sz="891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Access time increases by orders of magnitude, capacity expands dramatically, and cost per bit plummets.</a:t>
            </a:r>
            <a:endParaRPr b="0" i="0" sz="891" u="none" strike="noStrike">
              <a:solidFill>
                <a:srgbClr val="6A1B9A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5194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263238"/>
              </a:buClr>
              <a:buSzPts val="891"/>
              <a:buFont typeface="Comic Sans MS"/>
              <a:buChar char="●"/>
            </a:pPr>
            <a:r>
              <a:rPr b="0" i="0" lang="en-GB" sz="891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hierarchy ensures that high-speed execution is sustained without incurring prohibitive semiconductor manufacturing costs.</a:t>
            </a:r>
            <a:endParaRPr b="1" i="0" sz="1008" u="none" strike="noStrike">
              <a:solidFill>
                <a:srgbClr val="6A1B9A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9E7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/>
        </p:nvSpPr>
        <p:spPr>
          <a:xfrm>
            <a:off x="476250" y="190500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60">
                <a:solidFill>
                  <a:srgbClr val="D81B60"/>
                </a:solidFill>
                <a:latin typeface="Comic Sans MS"/>
                <a:ea typeface="Comic Sans MS"/>
                <a:cs typeface="Comic Sans MS"/>
                <a:sym typeface="Comic Sans MS"/>
              </a:rPr>
              <a:t>Summary &amp; Conclusion</a:t>
            </a:r>
            <a:endParaRPr b="1" sz="1860">
              <a:solidFill>
                <a:srgbClr val="D81B6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6" name="Google Shape;166;p25"/>
          <p:cNvSpPr txBox="1"/>
          <p:nvPr/>
        </p:nvSpPr>
        <p:spPr>
          <a:xfrm>
            <a:off x="476250" y="647700"/>
            <a:ext cx="8191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978">
                <a:solidFill>
                  <a:srgbClr val="1E88E5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Presented by: Member 5 (Manohar) | Key Insights &amp; Wrap-up</a:t>
            </a:r>
            <a:endParaRPr i="1" sz="978">
              <a:solidFill>
                <a:srgbClr val="1E88E5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7" name="Google Shape;167;p25"/>
          <p:cNvSpPr/>
          <p:nvPr/>
        </p:nvSpPr>
        <p:spPr>
          <a:xfrm>
            <a:off x="476250" y="1095375"/>
            <a:ext cx="3952800" cy="2571900"/>
          </a:xfrm>
          <a:prstGeom prst="roundRect">
            <a:avLst>
              <a:gd fmla="val 3703" name="adj"/>
            </a:avLst>
          </a:prstGeom>
          <a:solidFill>
            <a:srgbClr val="FFFFFF"/>
          </a:solidFill>
          <a:ln cap="flat" cmpd="sng" w="143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5"/>
          <p:cNvSpPr txBox="1"/>
          <p:nvPr/>
        </p:nvSpPr>
        <p:spPr>
          <a:xfrm>
            <a:off x="609600" y="1209675"/>
            <a:ext cx="3686100" cy="23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015" u="none" strike="noStrike">
                <a:solidFill>
                  <a:srgbClr val="2E7D32"/>
                </a:solidFill>
                <a:latin typeface="Comic Sans MS"/>
                <a:ea typeface="Comic Sans MS"/>
                <a:cs typeface="Comic Sans MS"/>
                <a:sym typeface="Comic Sans MS"/>
              </a:rPr>
              <a:t>Seminar Synthesis</a:t>
            </a:r>
            <a:endParaRPr b="1" i="0" sz="1015" u="none" strike="noStrike">
              <a:solidFill>
                <a:srgbClr val="2E7D3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194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63238"/>
              </a:buClr>
              <a:buSzPts val="840"/>
              <a:buFont typeface="Comic Sans MS"/>
              <a:buChar char="●"/>
            </a:pPr>
            <a:r>
              <a:rPr b="1" i="0" lang="en-GB" sz="84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Unified Hierarchy:</a:t>
            </a:r>
            <a:r>
              <a:rPr b="0" i="0" lang="en-GB" sz="84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Bridges the growing processor-memory performance gap.</a:t>
            </a:r>
            <a:endParaRPr b="0" i="0" sz="1015" u="none" strike="noStrike">
              <a:solidFill>
                <a:srgbClr val="2E7D3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194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840"/>
              <a:buFont typeface="Comic Sans MS"/>
              <a:buChar char="●"/>
            </a:pPr>
            <a:r>
              <a:rPr b="1" i="0" lang="en-GB" sz="84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Complementary Roles:</a:t>
            </a:r>
            <a:r>
              <a:rPr b="0" i="0" lang="en-GB" sz="84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Fast SRAM caches mask DRAM latencies, while virtual memory pages leverage secondary storage capacity.</a:t>
            </a:r>
            <a:endParaRPr b="0" i="0" sz="1015" u="none" strike="noStrike">
              <a:solidFill>
                <a:srgbClr val="2E7D3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194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63238"/>
              </a:buClr>
              <a:buSzPts val="840"/>
              <a:buFont typeface="Comic Sans MS"/>
              <a:buChar char="●"/>
            </a:pPr>
            <a:r>
              <a:rPr b="1" i="0" lang="en-GB" sz="84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Cost-Effective Performance:</a:t>
            </a:r>
            <a:r>
              <a:rPr b="0" i="0" lang="en-GB" sz="84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Delivers near-cache access speed at main memory capacity and budget.</a:t>
            </a:r>
            <a:endParaRPr b="0" i="0" sz="1015" u="none" strike="noStrike">
              <a:solidFill>
                <a:srgbClr val="2E7D32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81940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263238"/>
              </a:buClr>
              <a:buSzPts val="840"/>
              <a:buFont typeface="Comic Sans MS"/>
              <a:buChar char="●"/>
            </a:pPr>
            <a:r>
              <a:rPr b="1" i="0" lang="en-GB" sz="84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 Stability:</a:t>
            </a:r>
            <a:r>
              <a:rPr b="0" i="0" lang="en-GB" sz="840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OS memory management ensures isolation, protection, and efficient hardware relocation.</a:t>
            </a:r>
            <a:endParaRPr b="1" i="0" sz="1015" u="none" strike="noStrike">
              <a:solidFill>
                <a:srgbClr val="2E7D3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9" name="Google Shape;169;p25"/>
          <p:cNvSpPr/>
          <p:nvPr/>
        </p:nvSpPr>
        <p:spPr>
          <a:xfrm>
            <a:off x="4714875" y="1095375"/>
            <a:ext cx="3952800" cy="2571900"/>
          </a:xfrm>
          <a:prstGeom prst="roundRect">
            <a:avLst>
              <a:gd fmla="val 4444" name="adj"/>
            </a:avLst>
          </a:prstGeom>
          <a:solidFill>
            <a:srgbClr val="FFF3E0"/>
          </a:solidFill>
          <a:ln cap="flat" cmpd="sng" w="19050">
            <a:solidFill>
              <a:srgbClr val="FFB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5"/>
          <p:cNvSpPr txBox="1"/>
          <p:nvPr/>
        </p:nvSpPr>
        <p:spPr>
          <a:xfrm>
            <a:off x="4905375" y="1333500"/>
            <a:ext cx="35718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000">
                <a:solidFill>
                  <a:srgbClr val="D81B6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THANK YOU!</a:t>
            </a:r>
            <a:endParaRPr b="1" sz="3000">
              <a:solidFill>
                <a:srgbClr val="D81B6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D81B6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1" name="Google Shape;171;p25"/>
          <p:cNvSpPr/>
          <p:nvPr/>
        </p:nvSpPr>
        <p:spPr>
          <a:xfrm>
            <a:off x="476250" y="3762375"/>
            <a:ext cx="8191500" cy="1095300"/>
          </a:xfrm>
          <a:prstGeom prst="roundRect">
            <a:avLst>
              <a:gd fmla="val 8694" name="adj"/>
            </a:avLst>
          </a:prstGeom>
          <a:solidFill>
            <a:srgbClr val="FFFFFF"/>
          </a:solidFill>
          <a:ln cap="flat" cmpd="sng" w="14300">
            <a:solidFill>
              <a:srgbClr val="B0BE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5"/>
          <p:cNvSpPr txBox="1"/>
          <p:nvPr/>
        </p:nvSpPr>
        <p:spPr>
          <a:xfrm>
            <a:off x="609600" y="3829050"/>
            <a:ext cx="7924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249" u="none" strike="noStrike">
                <a:solidFill>
                  <a:srgbClr val="1565C0"/>
                </a:solidFill>
                <a:latin typeface="Comic Sans MS"/>
                <a:ea typeface="Comic Sans MS"/>
                <a:cs typeface="Comic Sans MS"/>
                <a:sym typeface="Comic Sans MS"/>
              </a:rPr>
              <a:t>Seminar Presentation Team (C</a:t>
            </a:r>
            <a:r>
              <a:rPr b="1" lang="en-GB" sz="1249">
                <a:solidFill>
                  <a:srgbClr val="1565C0"/>
                </a:solidFill>
                <a:latin typeface="Comic Sans MS"/>
                <a:ea typeface="Comic Sans MS"/>
                <a:cs typeface="Comic Sans MS"/>
                <a:sym typeface="Comic Sans MS"/>
              </a:rPr>
              <a:t>AI</a:t>
            </a:r>
            <a:r>
              <a:rPr b="1" i="0" lang="en-GB" sz="1249" u="none" strike="noStrike">
                <a:solidFill>
                  <a:srgbClr val="1565C0"/>
                </a:solidFill>
                <a:latin typeface="Comic Sans MS"/>
                <a:ea typeface="Comic Sans MS"/>
                <a:cs typeface="Comic Sans MS"/>
                <a:sym typeface="Comic Sans MS"/>
              </a:rPr>
              <a:t> 2-1)</a:t>
            </a:r>
            <a:endParaRPr b="1" i="0" sz="1249" u="none" strike="noStrike">
              <a:solidFill>
                <a:srgbClr val="1565C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6148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63238"/>
              </a:buClr>
              <a:buSzPts val="1064"/>
              <a:buFont typeface="Comic Sans MS"/>
              <a:buChar char="●"/>
            </a:pPr>
            <a:r>
              <a:rPr b="1" i="0" lang="en-GB" sz="1064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Team Members:</a:t>
            </a:r>
            <a:r>
              <a:rPr b="0" i="0" lang="en-GB" sz="1064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Karthikeya (M1) • Nikhil (M2) • Teja (M3) • Srinivas (M4) • Manohar (M5)</a:t>
            </a:r>
            <a:endParaRPr b="0" i="0" sz="1064" u="none" strike="noStrike">
              <a:solidFill>
                <a:srgbClr val="1565C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6148" lvl="0" marL="457200" marR="0" rtl="0" algn="l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263238"/>
              </a:buClr>
              <a:buSzPts val="1064"/>
              <a:buFont typeface="Comic Sans MS"/>
              <a:buChar char="●"/>
            </a:pPr>
            <a:r>
              <a:rPr b="1" i="0" lang="en-GB" sz="1064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Subject:</a:t>
            </a:r>
            <a:r>
              <a:rPr b="0" i="0" lang="en-GB" sz="1064" u="none" strike="noStrike">
                <a:solidFill>
                  <a:srgbClr val="263238"/>
                </a:solidFill>
                <a:latin typeface="Comic Sans MS"/>
                <a:ea typeface="Comic Sans MS"/>
                <a:cs typeface="Comic Sans MS"/>
                <a:sym typeface="Comic Sans MS"/>
              </a:rPr>
              <a:t> Digital Logic and Computer Organization (DLCO) | Department of Computer Science &amp; Engineering</a:t>
            </a:r>
            <a:endParaRPr b="1" i="0" sz="1249" u="none" strike="noStrike">
              <a:solidFill>
                <a:srgbClr val="1565C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